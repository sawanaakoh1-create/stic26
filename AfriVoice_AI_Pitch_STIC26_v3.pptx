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754880"/>
            <a:ext cx="12191695" cy="54864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dirty="0">
                <a:solidFill>
                  <a:srgbClr val="E8B83D"/>
                </a:solidFill>
                <a:latin typeface="Calibri"/>
              </a:rPr>
              <a:t>STIC'26 · SAHEL TECH INNOVATION CHALLENGE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AfriVoice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0">
                <a:solidFill>
                  <a:srgbClr val="C97B2E"/>
                </a:solidFill>
                <a:latin typeface="Calibri"/>
              </a:rPr>
              <a:t>L'IA vocale pour l'Afrique de l'Ouest — pour ceux qui ne savent ni lire, ni écrire.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AKOH N'DJARMA M. Sawanatou   ·   Fondatrice   ·   Lomé, Togo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E8B83D"/>
                </a:solidFill>
                <a:latin typeface="Calibri"/>
              </a:rPr>
              <a:t>Prototype de vision : https://stic26.vercel.app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Le problème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F5EEE0"/>
                </a:solidFill>
                <a:latin typeface="Calibri"/>
              </a:rPr>
              <a:t>La barrière invisible du numérique en Afrique de l'Ouest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65760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657600" cy="91440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365760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400" b="1">
                <a:solidFill>
                  <a:srgbClr val="B0452A"/>
                </a:solidFill>
                <a:latin typeface="Calibri"/>
              </a:rPr>
              <a:t>60 %+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329184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0">
                <a:solidFill>
                  <a:srgbClr val="1A1F2E"/>
                </a:solidFill>
                <a:latin typeface="Calibri"/>
              </a:rPr>
              <a:t>de la population</a:t>
            </a:r>
          </a:p>
          <a:p>
            <a:pPr algn="ctr"/>
            <a:r>
              <a:rPr sz="1400" b="0">
                <a:solidFill>
                  <a:srgbClr val="1A1F2E"/>
                </a:solidFill>
                <a:latin typeface="Calibri"/>
              </a:rPr>
              <a:t>utilise quotidiennement</a:t>
            </a:r>
          </a:p>
          <a:p>
            <a:pPr algn="ctr"/>
            <a:r>
              <a:rPr sz="1400" b="0">
                <a:solidFill>
                  <a:srgbClr val="1A1F2E"/>
                </a:solidFill>
                <a:latin typeface="Calibri"/>
              </a:rPr>
              <a:t>une langue locale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554480"/>
            <a:ext cx="365760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554480"/>
            <a:ext cx="3657600" cy="91440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2057400"/>
            <a:ext cx="365760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400" b="1">
                <a:solidFill>
                  <a:srgbClr val="B0452A"/>
                </a:solidFill>
                <a:latin typeface="Calibri"/>
              </a:rPr>
              <a:t>65 %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291840"/>
            <a:ext cx="329184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0">
                <a:solidFill>
                  <a:srgbClr val="1A1F2E"/>
                </a:solidFill>
                <a:latin typeface="Calibri"/>
              </a:rPr>
              <a:t>au Burkina Faso</a:t>
            </a:r>
          </a:p>
          <a:p>
            <a:pPr algn="ctr"/>
            <a:r>
              <a:rPr sz="1400" b="0">
                <a:solidFill>
                  <a:srgbClr val="1A1F2E"/>
                </a:solidFill>
                <a:latin typeface="Calibri"/>
              </a:rPr>
              <a:t>ne lisent pas couramment</a:t>
            </a:r>
          </a:p>
          <a:p>
            <a:pPr algn="ctr"/>
            <a:r>
              <a:rPr sz="1400" b="0">
                <a:solidFill>
                  <a:srgbClr val="1A1F2E"/>
                </a:solidFill>
                <a:latin typeface="Calibri"/>
              </a:rPr>
              <a:t>le français (UNESCO)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554480"/>
            <a:ext cx="338328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1554480"/>
            <a:ext cx="3383280" cy="91440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2057400"/>
            <a:ext cx="338328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400" b="1">
                <a:solidFill>
                  <a:srgbClr val="B0452A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291840"/>
            <a:ext cx="301752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0">
                <a:solidFill>
                  <a:srgbClr val="1A1F2E"/>
                </a:solidFill>
                <a:latin typeface="Calibri"/>
              </a:rPr>
              <a:t>assistant vocal IA</a:t>
            </a:r>
          </a:p>
          <a:p>
            <a:pPr algn="ctr"/>
            <a:r>
              <a:rPr sz="1400" b="0">
                <a:solidFill>
                  <a:srgbClr val="1A1F2E"/>
                </a:solidFill>
                <a:latin typeface="Calibri"/>
              </a:rPr>
              <a:t>local industriel disponible</a:t>
            </a:r>
          </a:p>
          <a:p>
            <a:pPr algn="ctr"/>
            <a:r>
              <a:rPr sz="1400" b="0">
                <a:solidFill>
                  <a:srgbClr val="1A1F2E"/>
                </a:solidFill>
                <a:latin typeface="Calibri"/>
              </a:rPr>
              <a:t>aujourd'hui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54880"/>
            <a:ext cx="11155680" cy="13716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937760"/>
            <a:ext cx="1060704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Elles ont un téléphone. Elles ont besoin de santé, d'agriculture,</a:t>
            </a:r>
          </a:p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de finance, d'éducation. Mais le numérique leur parle en français,</a:t>
            </a:r>
          </a:p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à l'écrit. Pour elles, c'est un mur.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657453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F5EEE0"/>
                </a:solidFill>
                <a:latin typeface="Calibri"/>
              </a:rPr>
              <a:t>AfriVoice AI  ·  STIC'26  ·  Finale en ligne  ·  Vision &amp; prototype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74536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F5EEE0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347472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0" b="1">
                <a:solidFill>
                  <a:srgbClr val="FFFFFF"/>
                </a:solidFill>
                <a:latin typeface="Calibri"/>
              </a:rPr>
              <a:t>Awa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651760"/>
            <a:ext cx="3474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F5EEE0"/>
                </a:solidFill>
                <a:latin typeface="Calibri"/>
              </a:rPr>
              <a:t>42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0"/>
            <a:ext cx="3474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F5EEE0"/>
                </a:solidFill>
                <a:latin typeface="Calibri"/>
              </a:rPr>
              <a:t>Commune rurale, Afrique de l'Ouest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566160"/>
            <a:ext cx="3474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>
                <a:solidFill>
                  <a:srgbClr val="F5EEE0"/>
                </a:solidFill>
                <a:latin typeface="Calibri"/>
              </a:rPr>
              <a:t>Mère de 4 enfants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97680"/>
            <a:ext cx="3474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1A1F2E"/>
                </a:solidFill>
                <a:latin typeface="Calibri"/>
              </a:rPr>
              <a:t>Ne sait pas lire.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371600"/>
            <a:ext cx="713232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B0452A"/>
                </a:solidFill>
                <a:latin typeface="Calibri"/>
              </a:rPr>
              <a:t>Une histoire, un million de fois.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7132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F2E"/>
                </a:solidFill>
                <a:latin typeface="Calibri"/>
              </a:rPr>
              <a:t>•  Son fils a de la fièvre.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F2E"/>
                </a:solidFill>
                <a:latin typeface="Calibri"/>
              </a:rPr>
              <a:t>•  Elle prend son téléphone. Elle abandonne devant les icônes.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F2E"/>
                </a:solidFill>
                <a:latin typeface="Calibri"/>
              </a:rPr>
              <a:t>•  Elle n'a personne à qui demander.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4572000"/>
            <a:ext cx="7132320" cy="1554480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4709160"/>
            <a:ext cx="658368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Avec AfriVoice AI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elle appuie sur UN bouton, parle dans SA langue,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et l'IA lui répond à voix haute.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657453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F5EEE0"/>
                </a:solidFill>
                <a:latin typeface="Calibri"/>
              </a:rPr>
              <a:t>AfriVoice AI  ·  STIC'26  ·  Finale en ligne  ·  Vision &amp; 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74536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F5EEE0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La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F5EEE0"/>
                </a:solidFill>
                <a:latin typeface="Calibri"/>
              </a:rPr>
              <a:t>Une infrastructure IA voice-first — 100 % pensée pour l'oral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3832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383280" cy="502920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33832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 · ENTRÉE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>
                <a:solidFill>
                  <a:srgbClr val="1A1F2E"/>
                </a:solidFill>
                <a:latin typeface="Calibri"/>
              </a:rPr>
              <a:t>ASR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301752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>
                <a:solidFill>
                  <a:srgbClr val="555A66"/>
                </a:solidFill>
                <a:latin typeface="Calibri"/>
              </a:rPr>
              <a:t>Reconnaissance vocale</a:t>
            </a:r>
          </a:p>
          <a:p>
            <a:pPr algn="ctr"/>
            <a:endParaRPr sz="1300" b="0">
              <a:solidFill>
                <a:srgbClr val="555A66"/>
              </a:solidFill>
              <a:latin typeface="Calibri"/>
            </a:endParaRPr>
          </a:p>
          <a:p>
            <a:pPr algn="ctr"/>
            <a:r>
              <a:rPr sz="1300" b="0">
                <a:solidFill>
                  <a:srgbClr val="555A66"/>
                </a:solidFill>
                <a:latin typeface="Calibri"/>
              </a:rPr>
              <a:t>La parole locale</a:t>
            </a:r>
          </a:p>
          <a:p>
            <a:pPr algn="ctr"/>
            <a:r>
              <a:rPr sz="1300" b="0">
                <a:solidFill>
                  <a:srgbClr val="555A66"/>
                </a:solidFill>
                <a:latin typeface="Calibri"/>
              </a:rPr>
              <a:t>est transcrite en texte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691640"/>
            <a:ext cx="33832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691640"/>
            <a:ext cx="3383280" cy="502920"/>
          </a:xfrm>
          <a:prstGeom prst="rect">
            <a:avLst/>
          </a:prstGeom>
          <a:solidFill>
            <a:srgbClr val="B0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1737360"/>
            <a:ext cx="33832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 · CERVEAU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77440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>
                <a:solidFill>
                  <a:srgbClr val="1A1F2E"/>
                </a:solidFill>
                <a:latin typeface="Calibri"/>
              </a:rPr>
              <a:t>NLP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063240"/>
            <a:ext cx="301752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>
                <a:solidFill>
                  <a:srgbClr val="555A66"/>
                </a:solidFill>
                <a:latin typeface="Calibri"/>
              </a:rPr>
              <a:t>Traitement du langage</a:t>
            </a:r>
          </a:p>
          <a:p>
            <a:pPr algn="ctr"/>
            <a:endParaRPr sz="1300" b="0">
              <a:solidFill>
                <a:srgbClr val="555A66"/>
              </a:solidFill>
              <a:latin typeface="Calibri"/>
            </a:endParaRPr>
          </a:p>
          <a:p>
            <a:pPr algn="ctr"/>
            <a:r>
              <a:rPr sz="1300" b="0">
                <a:solidFill>
                  <a:srgbClr val="555A66"/>
                </a:solidFill>
                <a:latin typeface="Calibri"/>
              </a:rPr>
              <a:t>Comprend l'intention</a:t>
            </a:r>
          </a:p>
          <a:p>
            <a:pPr algn="ctr"/>
            <a:r>
              <a:rPr sz="1300" b="0">
                <a:solidFill>
                  <a:srgbClr val="555A66"/>
                </a:solidFill>
                <a:latin typeface="Calibri"/>
              </a:rPr>
              <a:t>et formule la réponse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691640"/>
            <a:ext cx="33832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21040" y="1691640"/>
            <a:ext cx="3383280" cy="502920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1737360"/>
            <a:ext cx="33832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 · SORTIE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377440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>
                <a:solidFill>
                  <a:srgbClr val="1A1F2E"/>
                </a:solidFill>
                <a:latin typeface="Calibri"/>
              </a:rPr>
              <a:t>TTS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063240"/>
            <a:ext cx="301752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>
                <a:solidFill>
                  <a:srgbClr val="555A66"/>
                </a:solidFill>
                <a:latin typeface="Calibri"/>
              </a:rPr>
              <a:t>Synthèse vocale</a:t>
            </a:r>
          </a:p>
          <a:p>
            <a:pPr algn="ctr"/>
            <a:endParaRPr sz="1300" b="0">
              <a:solidFill>
                <a:srgbClr val="555A66"/>
              </a:solidFill>
              <a:latin typeface="Calibri"/>
            </a:endParaRPr>
          </a:p>
          <a:p>
            <a:pPr algn="ctr"/>
            <a:r>
              <a:rPr sz="1300" b="0">
                <a:solidFill>
                  <a:srgbClr val="555A66"/>
                </a:solidFill>
                <a:latin typeface="Calibri"/>
              </a:rPr>
              <a:t>La réponse est prononcée</a:t>
            </a:r>
          </a:p>
          <a:p>
            <a:pPr algn="ctr"/>
            <a:r>
              <a:rPr sz="1300" b="0">
                <a:solidFill>
                  <a:srgbClr val="555A66"/>
                </a:solidFill>
                <a:latin typeface="Calibri"/>
              </a:rPr>
              <a:t>avec une voix naturelle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114800" y="3200400"/>
            <a:ext cx="320040" cy="457200"/>
          </a:xfrm>
          <a:prstGeom prst="rightArrow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8046720" y="3200400"/>
            <a:ext cx="320040" cy="457200"/>
          </a:xfrm>
          <a:prstGeom prst="rightArrow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62356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E8B83D"/>
                </a:solidFill>
                <a:latin typeface="Calibri"/>
              </a:rPr>
              <a:t>Latence cible &lt; 3 secondes bout en bout  ·  Fonctionne sur téléphones d'entrée de gamme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657453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F5EEE0"/>
                </a:solidFill>
                <a:latin typeface="Calibri"/>
              </a:rPr>
              <a:t>AfriVoice AI  ·  STIC'26  ·  Finale en ligne  ·  Vision &amp; prototype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74536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F5EEE0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Choix de la langue pilote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F5EEE0"/>
                </a:solidFill>
                <a:latin typeface="Calibri"/>
              </a:rPr>
              <a:t>Une décision experte — pas une décision marketing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65836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B0452A"/>
                </a:solidFill>
                <a:latin typeface="Calibri"/>
              </a:rPr>
              <a:t>4 critères objectifs de sélection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6583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A1F2E"/>
                </a:solidFill>
                <a:latin typeface="Calibri"/>
              </a:rPr>
              <a:t>•  Disponibilité et qualité des corpus vocaux existants.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F2E"/>
                </a:solidFill>
                <a:latin typeface="Calibri"/>
              </a:rPr>
              <a:t>•  Nombre de locuteurs actifs dans la sous-région.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F2E"/>
                </a:solidFill>
                <a:latin typeface="Calibri"/>
              </a:rPr>
              <a:t>•  Ancrage terrain de nos partenaires ONG / coopératives.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F2E"/>
                </a:solidFill>
                <a:latin typeface="Calibri"/>
              </a:rPr>
              <a:t>•  Stratégie régionale et opportunités B2B / B2G.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65836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2E6E4E"/>
                </a:solidFill>
                <a:latin typeface="Calibri"/>
              </a:rPr>
              <a:t>Candidates naturelles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658368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1A1F2E"/>
                </a:solidFill>
                <a:latin typeface="Calibri"/>
              </a:rPr>
              <a:t>Mooré · Dioula · Fulfuldé · Wolof · Bambara</a:t>
            </a:r>
          </a:p>
          <a:p>
            <a:pPr algn="l"/>
            <a:endParaRPr sz="1400" b="0">
              <a:solidFill>
                <a:srgbClr val="1A1F2E"/>
              </a:solidFill>
              <a:latin typeface="Calibri"/>
            </a:endParaRPr>
          </a:p>
          <a:p>
            <a:pPr algn="l"/>
            <a:r>
              <a:rPr sz="1400" b="0">
                <a:solidFill>
                  <a:srgbClr val="1A1F2E"/>
                </a:solidFill>
                <a:latin typeface="Calibri"/>
              </a:rPr>
              <a:t>Le prototype en ligne illustre le concept avec</a:t>
            </a:r>
          </a:p>
          <a:p>
            <a:pPr algn="l"/>
            <a:r>
              <a:rPr sz="1400" b="0">
                <a:solidFill>
                  <a:srgbClr val="1A1F2E"/>
                </a:solidFill>
                <a:latin typeface="Calibri"/>
              </a:rPr>
              <a:t>des échantillons en Mooré (respect du pays hôte).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463040"/>
            <a:ext cx="4297680" cy="4480560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0" y="1645920"/>
            <a:ext cx="3931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Décision arbitrée par l'expert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194560"/>
            <a:ext cx="3931920" cy="3657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La fiche de candidature ne fixe pas la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langue de démarrage : c'est un choix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méthodologique assumé.</a:t>
            </a:r>
          </a:p>
          <a:p>
            <a:pPr algn="l"/>
            <a:endParaRPr sz="1200" b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Le choix définitif sera arrêté avec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l'Expert Linguistique &amp; Data Manager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que je recruterai dès l'obtention du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financement (profil listé dans la fiche,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section « Équipe »).</a:t>
            </a:r>
          </a:p>
          <a:p>
            <a:pPr algn="l"/>
            <a:endParaRPr sz="1200" b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Fixer la langue avant l'expert, ce serait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mettre la charrue avant les bœufs.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657453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F5EEE0"/>
                </a:solidFill>
                <a:latin typeface="Calibri"/>
              </a:rPr>
              <a:t>AfriVoice AI  ·  STIC'26  ·  Finale en ligne  ·  Vision &amp; 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74536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F5EEE0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Démo live — aperçu de la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F5EEE0"/>
                </a:solidFill>
                <a:latin typeface="Calibri"/>
              </a:rPr>
              <a:t>Prototype construit en solo · illustre l'expérience utilisateur cible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solidFill>
            <a:srgbClr val="B0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APERÇU DE VISION — pas encore le modèle IA de production. Le prototype prouve le parcours utilisateur.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200400"/>
            <a:ext cx="3474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1">
                <a:solidFill>
                  <a:srgbClr val="1A1F2E"/>
                </a:solidFill>
                <a:latin typeface="Calibri"/>
              </a:rPr>
              <a:t>[ QR CODE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749039"/>
            <a:ext cx="34747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0">
                <a:solidFill>
                  <a:srgbClr val="555A66"/>
                </a:solidFill>
                <a:latin typeface="Calibri"/>
              </a:rPr>
              <a:t>stic26.vercel.app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7315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C97B2E"/>
                </a:solidFill>
                <a:latin typeface="Calibri"/>
              </a:rPr>
              <a:t>4 scénarios · 1 seule interface : la voix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36576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457200" cy="1097280"/>
          </a:xfrm>
          <a:prstGeom prst="rect">
            <a:avLst/>
          </a:prstGeom>
          <a:solidFill>
            <a:srgbClr val="B0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2880360"/>
            <a:ext cx="292608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dirty="0">
                <a:solidFill>
                  <a:srgbClr val="1A1F2E"/>
                </a:solidFill>
                <a:latin typeface="Calibri"/>
              </a:rPr>
              <a:t>  Santé </a:t>
            </a:r>
            <a:r>
              <a:rPr sz="1400" b="1" dirty="0" err="1">
                <a:solidFill>
                  <a:srgbClr val="1A1F2E"/>
                </a:solidFill>
                <a:latin typeface="Calibri"/>
              </a:rPr>
              <a:t>maternelle</a:t>
            </a:r>
            <a:endParaRPr sz="1400" b="1" dirty="0">
              <a:solidFill>
                <a:srgbClr val="1A1F2E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7280" y="3337560"/>
            <a:ext cx="2926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555A66"/>
                </a:solidFill>
                <a:latin typeface="Calibri"/>
              </a:rPr>
              <a:t>Awa · commune rurale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743200"/>
            <a:ext cx="36576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06240" y="2743200"/>
            <a:ext cx="457200" cy="1097280"/>
          </a:xfrm>
          <a:prstGeom prst="rect">
            <a:avLst/>
          </a:prstGeom>
          <a:solidFill>
            <a:srgbClr val="B0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0" y="2880360"/>
            <a:ext cx="292608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dirty="0">
                <a:solidFill>
                  <a:srgbClr val="1A1F2E"/>
                </a:solidFill>
                <a:latin typeface="Calibri"/>
              </a:rPr>
              <a:t>  Agriculture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337560"/>
            <a:ext cx="2926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555A66"/>
                </a:solidFill>
                <a:latin typeface="Calibri"/>
              </a:rPr>
              <a:t>Rasmane · cultivateur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36576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457200" cy="1097280"/>
          </a:xfrm>
          <a:prstGeom prst="rect">
            <a:avLst/>
          </a:prstGeom>
          <a:solidFill>
            <a:srgbClr val="B0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4069080"/>
            <a:ext cx="292608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dirty="0">
                <a:solidFill>
                  <a:srgbClr val="1A1F2E"/>
                </a:solidFill>
                <a:latin typeface="Calibri"/>
              </a:rPr>
              <a:t>  Inclusion finance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526280"/>
            <a:ext cx="2926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555A66"/>
                </a:solidFill>
                <a:latin typeface="Calibri"/>
              </a:rPr>
              <a:t>Salif · entrepreneur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931920"/>
            <a:ext cx="36576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06240" y="3931920"/>
            <a:ext cx="457200" cy="1097280"/>
          </a:xfrm>
          <a:prstGeom prst="rect">
            <a:avLst/>
          </a:prstGeom>
          <a:solidFill>
            <a:srgbClr val="B0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0" y="4069080"/>
            <a:ext cx="292608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dirty="0">
                <a:solidFill>
                  <a:srgbClr val="1A1F2E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A1F2E"/>
                </a:solidFill>
                <a:latin typeface="Calibri"/>
              </a:rPr>
              <a:t>Éducation</a:t>
            </a:r>
            <a:endParaRPr sz="1400" b="1" dirty="0">
              <a:solidFill>
                <a:srgbClr val="1A1F2E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46320" y="4526280"/>
            <a:ext cx="2926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555A66"/>
                </a:solidFill>
                <a:latin typeface="Calibri"/>
              </a:rPr>
              <a:t>Fatimata · commerçante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212080"/>
            <a:ext cx="7315200" cy="1051560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5303520"/>
            <a:ext cx="694944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Je lance la démo Santé en direct.</a:t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Aucun clavier. Aucun écran à lire. Juste la voix.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657453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F5EEE0"/>
                </a:solidFill>
                <a:latin typeface="Calibri"/>
              </a:rPr>
              <a:t>AfriVoice AI  ·  STIC'26  ·  Finale en ligne  ·  Vision &amp; prototype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74536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F5EEE0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Notre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F5EEE0"/>
                </a:solidFill>
                <a:latin typeface="Calibri"/>
              </a:rPr>
              <a:t>Ce que ni Google, ni OpenAI, ni Meta ne font sur les langues à faible ressource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5661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640080" cy="3474720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64008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11680"/>
            <a:ext cx="25603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A1F2E"/>
                </a:solidFill>
                <a:latin typeface="Calibri"/>
              </a:rPr>
              <a:t>Corpus terrain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560320"/>
            <a:ext cx="2560320" cy="2286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555A66"/>
                </a:solidFill>
                <a:latin typeface="Calibri"/>
              </a:rPr>
              <a:t>À collecter avec des locuteurs</a:t>
            </a:r>
          </a:p>
          <a:p>
            <a:pPr algn="l"/>
            <a:r>
              <a:rPr sz="1300" b="0">
                <a:solidFill>
                  <a:srgbClr val="555A66"/>
                </a:solidFill>
                <a:latin typeface="Calibri"/>
              </a:rPr>
              <a:t>natifs rémunérés — encadré par</a:t>
            </a:r>
          </a:p>
          <a:p>
            <a:pPr algn="l"/>
            <a:r>
              <a:rPr sz="1300" b="0">
                <a:solidFill>
                  <a:srgbClr val="555A66"/>
                </a:solidFill>
                <a:latin typeface="Calibri"/>
              </a:rPr>
              <a:t>l'expert linguistique à recruter.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91640"/>
            <a:ext cx="35661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691640"/>
            <a:ext cx="640080" cy="3474720"/>
          </a:xfrm>
          <a:prstGeom prst="rect">
            <a:avLst/>
          </a:prstGeom>
          <a:solidFill>
            <a:srgbClr val="B0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1965960"/>
            <a:ext cx="64008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011680"/>
            <a:ext cx="25603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A1F2E"/>
                </a:solidFill>
                <a:latin typeface="Calibri"/>
              </a:rPr>
              <a:t>ASR + TTS fine-tunés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560320"/>
            <a:ext cx="2560320" cy="2286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555A66"/>
                </a:solidFill>
                <a:latin typeface="Calibri"/>
              </a:rPr>
              <a:t>Modèles adaptés aux langues</a:t>
            </a:r>
          </a:p>
          <a:p>
            <a:pPr algn="l"/>
            <a:r>
              <a:rPr sz="1300" b="0">
                <a:solidFill>
                  <a:srgbClr val="555A66"/>
                </a:solidFill>
                <a:latin typeface="Calibri"/>
              </a:rPr>
              <a:t>à faible ressource — portés par</a:t>
            </a:r>
          </a:p>
          <a:p>
            <a:pPr algn="l"/>
            <a:r>
              <a:rPr sz="1300" b="0">
                <a:solidFill>
                  <a:srgbClr val="555A66"/>
                </a:solidFill>
                <a:latin typeface="Calibri"/>
              </a:rPr>
              <a:t>le CTO Big Data à recruter.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691640"/>
            <a:ext cx="35661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691640"/>
            <a:ext cx="640080" cy="3474720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1965960"/>
            <a:ext cx="64008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011680"/>
            <a:ext cx="25603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A1F2E"/>
                </a:solidFill>
                <a:latin typeface="Calibri"/>
              </a:rPr>
              <a:t>UX sans écran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560320"/>
            <a:ext cx="2560320" cy="2286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555A66"/>
                </a:solidFill>
                <a:latin typeface="Calibri"/>
              </a:rPr>
              <a:t>DÉJÀ démontré aujourd'hui</a:t>
            </a:r>
          </a:p>
          <a:p>
            <a:pPr algn="l"/>
            <a:r>
              <a:rPr sz="1300" b="0">
                <a:solidFill>
                  <a:srgbClr val="555A66"/>
                </a:solidFill>
                <a:latin typeface="Calibri"/>
              </a:rPr>
              <a:t>via le prototype en ligne :</a:t>
            </a:r>
          </a:p>
          <a:p>
            <a:pPr algn="l"/>
            <a:r>
              <a:rPr sz="1300" b="0">
                <a:solidFill>
                  <a:srgbClr val="555A66"/>
                </a:solidFill>
                <a:latin typeface="Calibri"/>
              </a:rPr>
              <a:t>appuyer, parler, écouter.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562356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E8B83D"/>
                </a:solidFill>
                <a:latin typeface="Calibri"/>
              </a:rPr>
              <a:t>Objectif : 1er assistant vocal IA end-to-end contextualisé pour l'Afrique de l'Ouest.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657453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F5EEE0"/>
                </a:solidFill>
                <a:latin typeface="Calibri"/>
              </a:rPr>
              <a:t>AfriVoice AI  ·  STIC'26  ·  Finale en ligne  ·  Vision &amp; prototype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74536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F5EEE0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Marché &amp; modèle économique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F5EEE0"/>
                </a:solidFill>
                <a:latin typeface="Calibri"/>
              </a:rPr>
              <a:t>3 segments · 3 flux de revenus · 1 seul moteur technologique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5661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C97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566160" cy="502920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35661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B2C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320040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1A1F2E"/>
                </a:solidFill>
                <a:latin typeface="Calibri"/>
              </a:rPr>
              <a:t>Populations non alphabétisées,</a:t>
            </a:r>
          </a:p>
          <a:p>
            <a:pPr algn="l"/>
            <a:r>
              <a:rPr sz="1300" b="0">
                <a:solidFill>
                  <a:srgbClr val="1A1F2E"/>
                </a:solidFill>
                <a:latin typeface="Calibri"/>
              </a:rPr>
              <a:t>agriculteurs,</a:t>
            </a:r>
          </a:p>
          <a:p>
            <a:pPr algn="l"/>
            <a:r>
              <a:rPr sz="1300" b="0">
                <a:solidFill>
                  <a:srgbClr val="1A1F2E"/>
                </a:solidFill>
                <a:latin typeface="Calibri"/>
              </a:rPr>
              <a:t>micro-entrepreneurs.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069080"/>
            <a:ext cx="3200400" cy="27432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320040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C97B2E"/>
                </a:solidFill>
                <a:latin typeface="Calibri"/>
              </a:rPr>
              <a:t>Freemium</a:t>
            </a:r>
          </a:p>
          <a:p>
            <a:pPr algn="l"/>
            <a:r>
              <a:rPr sz="1300" b="1">
                <a:solidFill>
                  <a:srgbClr val="C97B2E"/>
                </a:solidFill>
                <a:latin typeface="Calibri"/>
              </a:rPr>
              <a:t>Accès de base gratuit</a:t>
            </a:r>
          </a:p>
          <a:p>
            <a:pPr algn="l"/>
            <a:r>
              <a:rPr sz="1300" b="1">
                <a:solidFill>
                  <a:srgbClr val="C97B2E"/>
                </a:solidFill>
                <a:latin typeface="Calibri"/>
              </a:rPr>
              <a:t>+ options premium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691640"/>
            <a:ext cx="35661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B04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1691640"/>
            <a:ext cx="3566160" cy="502920"/>
          </a:xfrm>
          <a:prstGeom prst="rect">
            <a:avLst/>
          </a:prstGeom>
          <a:solidFill>
            <a:srgbClr val="B0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80" y="1737360"/>
            <a:ext cx="35661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B2B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377440"/>
            <a:ext cx="320040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1A1F2E"/>
                </a:solidFill>
                <a:latin typeface="Calibri"/>
              </a:rPr>
              <a:t>Banques &amp; microfinances,</a:t>
            </a:r>
          </a:p>
          <a:p>
            <a:pPr algn="l"/>
            <a:r>
              <a:rPr sz="1300" b="0">
                <a:solidFill>
                  <a:srgbClr val="1A1F2E"/>
                </a:solidFill>
                <a:latin typeface="Calibri"/>
              </a:rPr>
              <a:t>cliniques (e-santé),</a:t>
            </a:r>
          </a:p>
          <a:p>
            <a:pPr algn="l"/>
            <a:r>
              <a:rPr sz="1300" b="0">
                <a:solidFill>
                  <a:srgbClr val="1A1F2E"/>
                </a:solidFill>
                <a:latin typeface="Calibri"/>
              </a:rPr>
              <a:t>plateformes e-commerce.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4069080"/>
            <a:ext cx="3200400" cy="27432"/>
          </a:xfrm>
          <a:prstGeom prst="rect">
            <a:avLst/>
          </a:prstGeom>
          <a:solidFill>
            <a:srgbClr val="B0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80560" y="4206240"/>
            <a:ext cx="320040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B0452A"/>
                </a:solidFill>
                <a:latin typeface="Calibri"/>
              </a:rPr>
              <a:t>Licences API</a:t>
            </a:r>
          </a:p>
          <a:p>
            <a:pPr algn="l"/>
            <a:r>
              <a:rPr sz="1300" b="1">
                <a:solidFill>
                  <a:srgbClr val="B0452A"/>
                </a:solidFill>
                <a:latin typeface="Calibri"/>
              </a:rPr>
              <a:t>Facturation à l'appel</a:t>
            </a:r>
          </a:p>
          <a:p>
            <a:pPr algn="l"/>
            <a:r>
              <a:rPr sz="1300" b="1">
                <a:solidFill>
                  <a:srgbClr val="B0452A"/>
                </a:solidFill>
                <a:latin typeface="Calibri"/>
              </a:rPr>
              <a:t>ou au forfait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35661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2E6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1691640"/>
            <a:ext cx="3566160" cy="502920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60" y="1737360"/>
            <a:ext cx="35661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B2G / 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377440"/>
            <a:ext cx="320040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1A1F2E"/>
                </a:solidFill>
                <a:latin typeface="Calibri"/>
              </a:rPr>
              <a:t>Administrations, agences</a:t>
            </a:r>
          </a:p>
          <a:p>
            <a:pPr algn="l"/>
            <a:r>
              <a:rPr sz="1300" b="0">
                <a:solidFill>
                  <a:srgbClr val="1A1F2E"/>
                </a:solidFill>
                <a:latin typeface="Calibri"/>
              </a:rPr>
              <a:t>de santé, ONG humanitaires,</a:t>
            </a:r>
          </a:p>
          <a:p>
            <a:pPr algn="l"/>
            <a:r>
              <a:rPr sz="1300" b="0">
                <a:solidFill>
                  <a:srgbClr val="1A1F2E"/>
                </a:solidFill>
                <a:latin typeface="Calibri"/>
              </a:rPr>
              <a:t>coopératives.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4069080"/>
            <a:ext cx="3200400" cy="27432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4206240"/>
            <a:ext cx="320040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2E6E4E"/>
                </a:solidFill>
                <a:latin typeface="Calibri"/>
              </a:rPr>
              <a:t>Contrats-cadres</a:t>
            </a:r>
          </a:p>
          <a:p>
            <a:pPr algn="l"/>
            <a:r>
              <a:rPr sz="1300" b="1">
                <a:solidFill>
                  <a:srgbClr val="2E6E4E"/>
                </a:solidFill>
                <a:latin typeface="Calibri"/>
              </a:rPr>
              <a:t>Campagnes vocales</a:t>
            </a:r>
          </a:p>
          <a:p>
            <a:pPr algn="l"/>
            <a:r>
              <a:rPr sz="1300" b="1">
                <a:solidFill>
                  <a:srgbClr val="2E6E4E"/>
                </a:solidFill>
                <a:latin typeface="Calibri"/>
              </a:rPr>
              <a:t>de masse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657453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F5EEE0"/>
                </a:solidFill>
                <a:latin typeface="Calibri"/>
              </a:rPr>
              <a:t>AfriVoice AI  ·  STIC'26  ·  Finale en ligne  ·  Vision &amp; prototype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74536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F5EEE0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Traction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F5EEE0"/>
                </a:solidFill>
                <a:latin typeface="Calibri"/>
              </a:rPr>
              <a:t>Ce qui existe aujourd'hui — ce que le financement permet de construire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B0452A"/>
                </a:solidFill>
                <a:latin typeface="Calibri"/>
              </a:rPr>
              <a:t>Aujourd'hui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26517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2651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000" b="1">
                <a:solidFill>
                  <a:srgbClr val="C97B2E"/>
                </a:solidFill>
                <a:latin typeface="Calibri"/>
              </a:rPr>
              <a:t>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2651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>
                <a:solidFill>
                  <a:srgbClr val="555A66"/>
                </a:solidFill>
                <a:latin typeface="Calibri"/>
              </a:rPr>
              <a:t>documentée, présentée</a:t>
            </a:r>
          </a:p>
          <a:p>
            <a:pPr algn="ctr"/>
            <a:r>
              <a:rPr sz="1000" b="0">
                <a:solidFill>
                  <a:srgbClr val="555A66"/>
                </a:solidFill>
                <a:latin typeface="Calibri"/>
              </a:rPr>
              <a:t>dans la fiche STIC'26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011680"/>
            <a:ext cx="26517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2057400"/>
            <a:ext cx="2651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000" b="1">
                <a:solidFill>
                  <a:srgbClr val="C97B2E"/>
                </a:solidFill>
                <a:latin typeface="Calibri"/>
              </a:rPr>
              <a:t>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88920"/>
            <a:ext cx="2651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>
                <a:solidFill>
                  <a:srgbClr val="555A66"/>
                </a:solidFill>
                <a:latin typeface="Calibri"/>
              </a:rPr>
              <a:t>en ligne, fonctionnel</a:t>
            </a:r>
          </a:p>
          <a:p>
            <a:pPr algn="ctr"/>
            <a:r>
              <a:rPr sz="1000" b="0">
                <a:solidFill>
                  <a:srgbClr val="555A66"/>
                </a:solidFill>
                <a:latin typeface="Calibri"/>
              </a:rPr>
              <a:t>(stic26.vercel.app)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29000"/>
            <a:ext cx="26517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474720"/>
            <a:ext cx="2651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000" b="1">
                <a:solidFill>
                  <a:srgbClr val="C97B2E"/>
                </a:solidFill>
                <a:latin typeface="Calibri"/>
              </a:rPr>
              <a:t>&lt; 3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2651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>
                <a:solidFill>
                  <a:srgbClr val="555A66"/>
                </a:solidFill>
                <a:latin typeface="Calibri"/>
              </a:rPr>
              <a:t>latence cible visée</a:t>
            </a:r>
          </a:p>
          <a:p>
            <a:pPr algn="ctr"/>
            <a:r>
              <a:rPr sz="1000" b="0">
                <a:solidFill>
                  <a:srgbClr val="555A66"/>
                </a:solidFill>
                <a:latin typeface="Calibri"/>
              </a:rPr>
              <a:t>sur réseau 3G/4G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3429000"/>
            <a:ext cx="26517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0" y="3474720"/>
            <a:ext cx="2651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000" b="1">
                <a:solidFill>
                  <a:srgbClr val="C97B2E"/>
                </a:solidFill>
                <a:latin typeface="Calibri"/>
              </a:rPr>
              <a:t>95 %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206240"/>
            <a:ext cx="2651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>
                <a:solidFill>
                  <a:srgbClr val="555A66"/>
                </a:solidFill>
                <a:latin typeface="Calibri"/>
              </a:rPr>
              <a:t>précision ASR cible</a:t>
            </a:r>
          </a:p>
          <a:p>
            <a:pPr algn="ctr"/>
            <a:r>
              <a:rPr sz="1000" b="0">
                <a:solidFill>
                  <a:srgbClr val="555A66"/>
                </a:solidFill>
                <a:latin typeface="Calibri"/>
              </a:rPr>
              <a:t>(WER — fiche)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2E6E4E"/>
                </a:solidFill>
                <a:latin typeface="Calibri"/>
              </a:rPr>
              <a:t>Roadmap 3 ans (fiche)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011680"/>
            <a:ext cx="1097280" cy="914400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2194560"/>
            <a:ext cx="10972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An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0" y="2011680"/>
            <a:ext cx="42976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0" y="2103120"/>
            <a:ext cx="411480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1A1F2E"/>
                </a:solidFill>
                <a:latin typeface="Calibri"/>
              </a:rPr>
              <a:t>Recrutement équipe · choix langue pilote</a:t>
            </a:r>
          </a:p>
          <a:p>
            <a:pPr algn="l"/>
            <a:r>
              <a:rPr sz="1200" b="0">
                <a:solidFill>
                  <a:srgbClr val="1A1F2E"/>
                </a:solidFill>
                <a:latin typeface="Calibri"/>
              </a:rPr>
              <a:t>Corpus + MVP industrialisé · 3 000 utilisateurs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063240"/>
            <a:ext cx="1097280" cy="914400"/>
          </a:xfrm>
          <a:prstGeom prst="rect">
            <a:avLst/>
          </a:prstGeom>
          <a:solidFill>
            <a:srgbClr val="B0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246120"/>
            <a:ext cx="10972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An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0" y="3063240"/>
            <a:ext cx="42976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80960" y="3154680"/>
            <a:ext cx="411480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1A1F2E"/>
                </a:solidFill>
                <a:latin typeface="Calibri"/>
              </a:rPr>
              <a:t>2e langue locale · premiers contrats B2B / B2G</a:t>
            </a:r>
          </a:p>
          <a:p>
            <a:pPr algn="l"/>
            <a:r>
              <a:rPr sz="1200" b="0">
                <a:solidFill>
                  <a:srgbClr val="1A1F2E"/>
                </a:solidFill>
                <a:latin typeface="Calibri"/>
              </a:rPr>
              <a:t>15 000 utilisateurs actifs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114800"/>
            <a:ext cx="1097280" cy="914400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4297680"/>
            <a:ext cx="10972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An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0" y="4114800"/>
            <a:ext cx="42976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80960" y="4206240"/>
            <a:ext cx="411480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1A1F2E"/>
                </a:solidFill>
                <a:latin typeface="Calibri"/>
              </a:rPr>
              <a:t>3e et 4e langues · API publique · expansion sous-région</a:t>
            </a:r>
          </a:p>
          <a:p>
            <a:pPr algn="l"/>
            <a:r>
              <a:rPr sz="1200" b="0">
                <a:solidFill>
                  <a:srgbClr val="1A1F2E"/>
                </a:solidFill>
                <a:latin typeface="Calibri"/>
              </a:rPr>
              <a:t>50 000 utilisateurs actifs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E8B83D"/>
                </a:solidFill>
                <a:latin typeface="Calibri"/>
              </a:rPr>
              <a:t>Projections financières (USD — fiche)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An 1 : −20 000  (amorçage)     ·     An 2 : +25 000  (point mort)     ·     An 3 : +130 000  (rentable)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657453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F5EEE0"/>
                </a:solidFill>
                <a:latin typeface="Calibri"/>
              </a:rPr>
              <a:t>AfriVoice AI  ·  STIC'26  ·  Finale en ligne  ·  Vision &amp; prototype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574536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F5EEE0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Équipe &amp; demande au jury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F5EEE0"/>
                </a:solidFill>
                <a:latin typeface="Calibri"/>
              </a:rPr>
              <a:t>La vision est portée — l'équipe reste à constituer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6692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B0452A"/>
                </a:solidFill>
                <a:latin typeface="Calibri"/>
              </a:rPr>
              <a:t>L'équipe cible (fiche §5)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5669280" cy="822960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539496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Aujourd'hui : moi seule</a:t>
            </a:r>
          </a:p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Fondatrice · Lead Dev IA · Chercheuse terrain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5669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1A1F2E"/>
                </a:solidFill>
                <a:latin typeface="Calibri"/>
              </a:rPr>
              <a:t>3 profils experts à recruter dès financement 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37560"/>
            <a:ext cx="502920" cy="777240"/>
          </a:xfrm>
          <a:prstGeom prst="rect">
            <a:avLst/>
          </a:prstGeom>
          <a:solidFill>
            <a:srgbClr val="B0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83280"/>
            <a:ext cx="4754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1A1F2E"/>
                </a:solidFill>
                <a:latin typeface="Calibri"/>
              </a:rPr>
              <a:t>CTO — DevOps &amp; Big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21608"/>
            <a:ext cx="4754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555A66"/>
                </a:solidFill>
                <a:latin typeface="Calibri"/>
              </a:rPr>
              <a:t>Industrialisation des modèles + sécurité des données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06240"/>
            <a:ext cx="502920" cy="777240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34340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51960"/>
            <a:ext cx="4754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1A1F2E"/>
                </a:solidFill>
                <a:latin typeface="Calibri"/>
              </a:rPr>
              <a:t>Expert Linguistique &amp; Data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590288"/>
            <a:ext cx="4754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555A66"/>
                </a:solidFill>
                <a:latin typeface="Calibri"/>
              </a:rPr>
              <a:t>Corpus vocaux + choix de la langue pilote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74920"/>
            <a:ext cx="502920" cy="777240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521208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120640"/>
            <a:ext cx="4754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1A1F2E"/>
                </a:solidFill>
                <a:latin typeface="Calibri"/>
              </a:rPr>
              <a:t>Responsable Produit &amp; Commercial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458968"/>
            <a:ext cx="4754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555A66"/>
                </a:solidFill>
                <a:latin typeface="Calibri"/>
              </a:rPr>
              <a:t>Acquisition B2B / B2G + UX vocale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2E6E4E"/>
                </a:solidFill>
                <a:latin typeface="Calibri"/>
              </a:rPr>
              <a:t>Notre demande au jury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965960"/>
            <a:ext cx="457200" cy="457200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2011680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039112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1A1F2E"/>
                </a:solidFill>
                <a:latin typeface="Calibri"/>
              </a:rPr>
              <a:t>Financement amorçage (infra + fine-tuning)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606040"/>
            <a:ext cx="457200" cy="457200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2651760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2679192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1A1F2E"/>
                </a:solidFill>
                <a:latin typeface="Calibri"/>
              </a:rPr>
              <a:t>Budget de recrutement des 3 profils experts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246120"/>
            <a:ext cx="457200" cy="457200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3291840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3319272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1A1F2E"/>
                </a:solidFill>
                <a:latin typeface="Calibri"/>
              </a:rPr>
              <a:t>Appui à la collecte de corpus vocaux terrain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886200"/>
            <a:ext cx="457200" cy="457200"/>
          </a:xfrm>
          <a:prstGeom prst="rect">
            <a:avLst/>
          </a:prstGeom>
          <a:solidFill>
            <a:srgbClr val="2E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3931920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959352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1A1F2E"/>
                </a:solidFill>
                <a:latin typeface="Calibri"/>
              </a:rPr>
              <a:t>Partenariats ONG, coopératives, mairies, télécoms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617720"/>
            <a:ext cx="5486400" cy="146304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0" y="4754880"/>
            <a:ext cx="51206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E8B83D"/>
                </a:solidFill>
                <a:latin typeface="Calibri"/>
              </a:rPr>
              <a:t>Votre soutien ne finance pas juste une startup.</a:t>
            </a:r>
          </a:p>
          <a:p>
            <a:pPr algn="ctr"/>
            <a:r>
              <a:rPr sz="1200" b="1">
                <a:solidFill>
                  <a:srgbClr val="E8B83D"/>
                </a:solidFill>
                <a:latin typeface="Calibri"/>
              </a:rPr>
              <a:t>Il finance la CONSTITUTION d'une équipe experte</a:t>
            </a:r>
          </a:p>
          <a:p>
            <a:pPr algn="ctr"/>
            <a:r>
              <a:rPr sz="1200" b="1">
                <a:solidFill>
                  <a:srgbClr val="E8B83D"/>
                </a:solidFill>
                <a:latin typeface="Calibri"/>
              </a:rPr>
              <a:t>capable de mettre des millions de personnes</a:t>
            </a:r>
          </a:p>
          <a:p>
            <a:pPr algn="ctr"/>
            <a:r>
              <a:rPr sz="1200" b="1">
                <a:solidFill>
                  <a:srgbClr val="E8B83D"/>
                </a:solidFill>
                <a:latin typeface="Calibri"/>
              </a:rPr>
              <a:t>non alphabétisées dans l'ère numérique.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657453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F5EEE0"/>
                </a:solidFill>
                <a:latin typeface="Calibri"/>
              </a:rPr>
              <a:t>AfriVoice AI  ·  STIC'26  ·  Finale en ligne  ·  Vision &amp; prototype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574536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F5EEE0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E8B83D"/>
                </a:solidFill>
                <a:latin typeface="Calibri"/>
              </a:rPr>
              <a:t>Notre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2286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Un continent où plus jamais un paysan, une mère, un artisan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ne sera exclu du numérique parce qu'il ne sait pas lire.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0">
                <a:solidFill>
                  <a:srgbClr val="C97B2E"/>
                </a:solidFill>
                <a:latin typeface="Calibri"/>
              </a:rPr>
              <a:t>AfriVoice AI, ce n'est pas encore une application finie.</a:t>
            </a:r>
          </a:p>
          <a:p>
            <a:pPr algn="l"/>
            <a:r>
              <a:rPr sz="1700" b="0">
                <a:solidFill>
                  <a:srgbClr val="C97B2E"/>
                </a:solidFill>
                <a:latin typeface="Calibri"/>
              </a:rPr>
              <a:t>C'est une vision documentée, un prototype honnête,</a:t>
            </a:r>
          </a:p>
          <a:p>
            <a:pPr algn="l"/>
            <a:r>
              <a:rPr sz="1700" b="0">
                <a:solidFill>
                  <a:srgbClr val="C97B2E"/>
                </a:solidFill>
                <a:latin typeface="Calibri"/>
              </a:rPr>
              <a:t>et une fondatrice prête à s'entourer des meilleurs pour la réaliser.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5257800"/>
            <a:ext cx="6400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Merci.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AKOH N'DJARMA M. Sawanatou · Lomé, Togo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F5EEE0"/>
                </a:solidFill>
                <a:latin typeface="Calibri"/>
              </a:rPr>
              <a:t>Prototype de vision : https://stic26.vercel.app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1192</Words>
  <Application>Microsoft Office PowerPoint</Application>
  <PresentationFormat>Widescreen</PresentationFormat>
  <Paragraphs>219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sawanatou akoh</cp:lastModifiedBy>
  <cp:revision>2</cp:revision>
  <dcterms:created xsi:type="dcterms:W3CDTF">2013-01-27T09:14:16Z</dcterms:created>
  <dcterms:modified xsi:type="dcterms:W3CDTF">2026-07-20T15:33:08Z</dcterms:modified>
  <cp:category/>
</cp:coreProperties>
</file>